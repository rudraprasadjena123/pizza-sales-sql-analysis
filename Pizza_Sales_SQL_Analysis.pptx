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731520"/>
            <a:ext cx="2286000" cy="2286000"/>
          </a:xfrm>
          <a:prstGeom prst="ellipse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468880"/>
            <a:ext cx="1371600" cy="1371600"/>
          </a:xfrm>
          <a:prstGeom prst="ellipse">
            <a:avLst/>
          </a:prstGeom>
          <a:solidFill>
            <a:srgbClr val="F2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383280"/>
            <a:ext cx="1005840" cy="1005840"/>
          </a:xfrm>
          <a:prstGeom prst="ellipse">
            <a:avLst/>
          </a:prstGeom>
          <a:solidFill>
            <a:srgbClr val="75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1323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2B152"/>
                </a:solidFill>
                <a:latin typeface="Aptos"/>
              </a:defRPr>
            </a:pPr>
            <a:r>
              <a:t>DATA ANALYTICS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7498079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600" b="1">
                <a:solidFill>
                  <a:srgbClr val="F8F1E1"/>
                </a:solidFill>
                <a:latin typeface="Aptos"/>
              </a:defRPr>
            </a:pPr>
            <a:r>
              <a:t>PIZZA SALES</a:t>
            </a:r>
            <a:br/>
            <a:r>
              <a:t>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429000"/>
            <a:ext cx="676656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0">
                <a:solidFill>
                  <a:srgbClr val="BEC3C2"/>
                </a:solidFill>
                <a:latin typeface="Aptos"/>
              </a:defRPr>
            </a:pPr>
            <a:r>
              <a:t>Turning transactional sales data into business insights with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53035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8F1E1"/>
                </a:solidFill>
                <a:latin typeface="Aptos"/>
              </a:defRPr>
            </a:pPr>
            <a:r>
              <a:t>TOOLS  MySQL 8.0  •  MySQL Workbench  • 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5303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Prepared by: [Your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1323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PORTFOLIO PRESENTATION  |  16:9 WIDESCREEN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A practical SQL project focused on product, order, and revenue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8F1E1"/>
                </a:solidFill>
                <a:latin typeface="Aptos"/>
              </a:defRPr>
            </a:pPr>
            <a:r>
              <a:t>•  Analyze order volume, sales revenue, product popularity, and category performance.</a:t>
            </a:r>
          </a:p>
          <a:p>
            <a:pPr>
              <a:spcAft>
                <a:spcPts val="1300"/>
              </a:spcAft>
              <a:defRPr sz="2000">
                <a:solidFill>
                  <a:srgbClr val="F8F1E1"/>
                </a:solidFill>
                <a:latin typeface="Aptos"/>
              </a:defRPr>
            </a:pPr>
            <a:r>
              <a:t>•  Use joins and aggregations to combine transaction, pizza, and category information.</a:t>
            </a:r>
          </a:p>
          <a:p>
            <a:pPr>
              <a:spcAft>
                <a:spcPts val="1300"/>
              </a:spcAft>
              <a:defRPr sz="2000">
                <a:solidFill>
                  <a:srgbClr val="F8F1E1"/>
                </a:solidFill>
                <a:latin typeface="Aptos"/>
              </a:defRPr>
            </a:pPr>
            <a:r>
              <a:t>•  Apply date/time functions and window functions for deeper sales trends and rankings.</a:t>
            </a:r>
          </a:p>
          <a:p>
            <a:pPr>
              <a:spcAft>
                <a:spcPts val="1300"/>
              </a:spcAft>
              <a:defRPr sz="2000">
                <a:solidFill>
                  <a:srgbClr val="F8F1E1"/>
                </a:solidFill>
                <a:latin typeface="Aptos"/>
              </a:defRPr>
            </a:pPr>
            <a:r>
              <a:t>•  Translate query results into decisions about menu planning, promotions, and operations.</a:t>
            </a:r>
          </a:p>
          <a:p>
            <a:pPr>
              <a:spcAft>
                <a:spcPts val="1300"/>
              </a:spcAft>
              <a:defRPr sz="2000">
                <a:solidFill>
                  <a:srgbClr val="F8F1E1"/>
                </a:solidFill>
                <a:latin typeface="Aptos"/>
              </a:defRPr>
            </a:pPr>
            <a:r>
              <a:t>•  All metrics and conclusions should be populated from verified query outputs—not estimated.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Business Problem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What can the business learn from its pizza sales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Business problem: raw order records do not immediately reveal the products, categories, and time periods driving performance.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Measure demand: identify popular pizza types and sizes.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Measure value: calculate revenue and each product's contribution.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Understand timing: inspect order distribution by hour and revenue trends over time.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Support action: use evidence to guide promotions, inventory, and staffing.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Dataset &amp; Table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Validate the exact column names and key relationships in MySQL Workbench before running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77440" cy="137160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2157984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2157984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F8F1E1"/>
                </a:solidFill>
                <a:latin typeface="Aptos"/>
              </a:defRPr>
            </a:pPr>
            <a:r>
              <a:t>order_id • order_date • order_time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560320" cy="137160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1975104"/>
            <a:ext cx="2340863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order_details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331720"/>
            <a:ext cx="2340863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F8F1E1"/>
                </a:solidFill>
                <a:latin typeface="Aptos"/>
              </a:defRPr>
            </a:pPr>
            <a:r>
              <a:t>order_details_id • order_id • pizza_id • quantity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28800"/>
            <a:ext cx="2286000" cy="137160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1975104"/>
            <a:ext cx="2066543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pizzas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331720"/>
            <a:ext cx="2066543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F8F1E1"/>
                </a:solidFill>
                <a:latin typeface="Aptos"/>
              </a:defRPr>
            </a:pPr>
            <a:r>
              <a:t>pizza_id • pizza_type_id • size •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828800"/>
            <a:ext cx="2057400" cy="137160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7" y="1975104"/>
            <a:ext cx="1837943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pizza_types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3767" y="2331720"/>
            <a:ext cx="1837943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F8F1E1"/>
                </a:solidFill>
                <a:latin typeface="Aptos"/>
              </a:defRPr>
            </a:pPr>
            <a:r>
              <a:t>pizza_type_id • name • category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4680" y="2514600"/>
            <a:ext cx="502920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2514600"/>
            <a:ext cx="502920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06840" y="2514600"/>
            <a:ext cx="457200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3977639"/>
            <a:ext cx="10515600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8F1E1"/>
                </a:solidFill>
                <a:latin typeface="Aptos"/>
              </a:defRPr>
            </a:pPr>
            <a:r>
              <a:t>Standard dataset join path: orders.order_id → order_details.order_id → pizzas.pizza_id → pizza_types.pizza_type_id.</a:t>
            </a:r>
            <a:br/>
            <a:r>
              <a:t>Your submitted queries use different join columns in places. Confirm the actual schema first; if your imported tables have different column names, adapt the SQL accordingly.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Analysis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A repeatable workflow for accurate SQL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645920" cy="123444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1417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2B1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52928"/>
            <a:ext cx="1417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8F1E1"/>
                </a:solidFill>
                <a:latin typeface="Aptos"/>
              </a:defRPr>
            </a:pPr>
            <a:r>
              <a:t>Inspect schema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852928"/>
            <a:ext cx="256032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0320" y="2240280"/>
            <a:ext cx="1645920" cy="123444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2423160"/>
            <a:ext cx="1417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2B1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852928"/>
            <a:ext cx="1417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8F1E1"/>
                </a:solidFill>
                <a:latin typeface="Aptos"/>
              </a:defRPr>
            </a:pPr>
            <a:r>
              <a:t>Validate joins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06240" y="2852928"/>
            <a:ext cx="256032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80560" y="2240280"/>
            <a:ext cx="1645920" cy="123444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23160"/>
            <a:ext cx="1417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2B1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852928"/>
            <a:ext cx="1417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8F1E1"/>
                </a:solidFill>
                <a:latin typeface="Aptos"/>
              </a:defRPr>
            </a:pPr>
            <a:r>
              <a:t>Write 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0" y="2852928"/>
            <a:ext cx="256032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2240280"/>
            <a:ext cx="1645920" cy="1234440"/>
          </a:xfrm>
          <a:prstGeom prst="roundRect">
            <a:avLst/>
          </a:prstGeom>
          <a:solidFill>
            <a:srgbClr val="272D30"/>
          </a:solidFill>
          <a:ln>
            <a:solidFill>
              <a:srgbClr val="75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423160"/>
            <a:ext cx="1417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2B1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852928"/>
            <a:ext cx="1417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8F1E1"/>
                </a:solidFill>
                <a:latin typeface="Aptos"/>
              </a:defRPr>
            </a:pPr>
            <a:r>
              <a:t>Check results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0" y="2852928"/>
            <a:ext cx="256032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21040" y="2240280"/>
            <a:ext cx="1645920" cy="1234440"/>
          </a:xfrm>
          <a:prstGeom prst="roundRect">
            <a:avLst/>
          </a:prstGeom>
          <a:solidFill>
            <a:srgbClr val="272D30"/>
          </a:solidFill>
          <a:ln>
            <a:solidFill>
              <a:srgbClr val="75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2423160"/>
            <a:ext cx="1417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2B15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852928"/>
            <a:ext cx="1417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8F1E1"/>
                </a:solidFill>
                <a:latin typeface="Aptos"/>
              </a:defRPr>
            </a:pPr>
            <a:r>
              <a:t>Visualize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66960" y="2852928"/>
            <a:ext cx="256032" cy="0"/>
          </a:xfrm>
          <a:prstGeom prst="line">
            <a:avLst/>
          </a:prstGeom>
          <a:ln w="25400">
            <a:solidFill>
              <a:srgbClr val="F2B1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41280" y="2240280"/>
            <a:ext cx="1645920" cy="1234440"/>
          </a:xfrm>
          <a:prstGeom prst="roundRect">
            <a:avLst/>
          </a:prstGeom>
          <a:solidFill>
            <a:srgbClr val="272D30"/>
          </a:solidFill>
          <a:ln>
            <a:solidFill>
              <a:srgbClr val="75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1007" y="2423160"/>
            <a:ext cx="1417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2B15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7" y="2852928"/>
            <a:ext cx="1417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300" b="1">
                <a:solidFill>
                  <a:srgbClr val="F8F1E1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51960"/>
            <a:ext cx="102412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BEC3C2"/>
                </a:solidFill>
                <a:latin typeface="Aptos"/>
              </a:defRPr>
            </a:pPr>
            <a:r>
              <a:t>Quality rule: validate row counts, totals, join keys, and aggregation grain before interpreting a chart.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2B152"/>
                </a:solidFill>
                <a:latin typeface="Aptos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987552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8F1E1"/>
                </a:solidFill>
                <a:latin typeface="Aptos"/>
              </a:defRPr>
            </a:pPr>
            <a:r>
              <a:t>BASIC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86868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0">
                <a:solidFill>
                  <a:srgbClr val="BEC3C2"/>
                </a:solidFill>
                <a:latin typeface="Aptos"/>
              </a:defRPr>
            </a:pPr>
            <a:r>
              <a:t>Establish the core measures: order volume, revenue, price, size, and product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Q1 • Total orders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BASIC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How many distinct orders were placed?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COUNT(DISTINCT order_id) AS total_orders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COUNT(DISTINCT) counts unique orders.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Use this as an overall order-volume KPI.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Q2 • Total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BASIC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How much revenue did pizza sales generate?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ROUND(SUM(od.quantity * p.price), 2) AS total_revenue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order_details od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pizzas p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ON p.pizza_id = od.pizza_id;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Revenue = quantity × unit price.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This assumes one pizza price per pizza-size SKU.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Q3 • Highest-priced pizza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BASIC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Which pizza SKU has the highest listed price?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pt.name AS pizza_type, p.size, p.price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pizzas p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pizza_types pt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ON pt.pizza_type_id = p.pizza_type_id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WHERE p.price = (SELECT MAX(price) FROM pizzas)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ORDER BY pt.name, p.size;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Returns all ties for the maximum price.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Shows both pizza type and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Q4 • Most common pizza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BASIC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Which size had the greatest quantity sold?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p.size,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SUM(od.quantity) AS pizzas_sold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order_details od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pizzas p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ON p.pizza_id = od.pizza_id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GROUP BY p.size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ORDER BY pizzas_sold DESC;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SUM(quantity) measures units sold.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Counting rows instead measures order-detail lines, not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Q5 • Top 5 by quantity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BASIC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Which pizza types sold the most units?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pt.name AS pizza_type,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SUM(od.quantity) AS quantity_sold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order_details od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pizzas p ON p.pizza_id = od.pizza_id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pizza_types pt ON pt.pizza_type_id = p.pizza_type_id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GROUP BY pt.name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ORDER BY quantity_sold DESC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LIMIT 5;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Groups size variants under the pizza type.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A horizontal bar chart works well.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2B152"/>
                </a:solidFill>
                <a:latin typeface="Aptos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987552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200" b="1">
                <a:solidFill>
                  <a:srgbClr val="F8F1E1"/>
                </a:solidFill>
                <a:latin typeface="Aptos"/>
              </a:defRPr>
            </a:pPr>
            <a:r>
              <a:t>INTERMEDIATE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91440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0">
                <a:solidFill>
                  <a:srgbClr val="BEC3C2"/>
                </a:solidFill>
                <a:latin typeface="Aptos"/>
              </a:defRPr>
            </a:pPr>
            <a:r>
              <a:t>Compare categories, understand when orders happen, and calculate daily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Q6 • Quantity by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INTERMEDIATE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How many pizzas were sold in each category?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pt.category,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SUM(od.quantity) AS quantity_sold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order_details od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pizzas p ON p.pizza_id = od.pizza_id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pizza_types pt ON pt.pizza_type_id = p.pizza_type_id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GROUP BY pt.category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ORDER BY quantity_sold DESC;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Aggregates units across all pizza types.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Use a sorted bar chart.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Q7 • Orders by hour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INTERMEDIATE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At what hours were orders placed?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HOUR(o.order_time) AS order_hour,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COUNT(DISTINCT o.order_id) AS total_orders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orders o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GROUP BY HOUR(o.order_time)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ORDER BY order_hour;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Counts unique orders for each hour.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A column chart reveals peak periods.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Q8 • Category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INTERMEDIATE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What share of units does each category represent?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pt.category,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SUM(od.quantity) AS quantity_sold,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ROUND(100.0 * SUM(od.quantity) /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  (SELECT SUM(quantity) FROM order_details), 2) AS quantity_pct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order_details od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pizzas p ON p.pizza_id = od.pizza_id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pizza_types pt ON pt.pizza_type_id = p.pizza_type_id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GROUP BY pt.category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ORDER BY quantity_sold DESC;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This defines distribution as units sold.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Use quantity share, not COUNT(name), for sales distribution.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Q9 • Average pizzas per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INTERMEDIATE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What was the average daily pizza quantity?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WITH daily_quantity AS (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SELECT o.order_date,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  SUM(od.quantity) AS pizzas_sold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FROM orders o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JOIN order_details od ON od.order_id = o.order_id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GROUP BY o.order_date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ROUND(AVG(pizzas_sold), 2) AS avg_pizzas_per_day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daily_quantity;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First calculates one total per date.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Then averages those daily totals.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Q10 • Top 3 by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INTERMEDIATE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Which pizza types generated the most revenue?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SELECT pt.name AS pizza_type,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       ROUND(SUM(od.quantity * p.price), 2) AS revenue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FROM order_details od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pizzas p ON p.pizza_id = od.pizza_id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JOIN pizza_types pt ON pt.pizza_type_id = p.pizza_type_id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GROUP BY pt.name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ORDER BY revenue DESC</a:t>
            </a:r>
          </a:p>
          <a:p>
            <a:pPr>
              <a:spcAft>
                <a:spcPts val="0"/>
              </a:spcAft>
              <a:defRPr sz="1200">
                <a:solidFill>
                  <a:srgbClr val="F8F1E1"/>
                </a:solidFill>
                <a:latin typeface="Consolas"/>
              </a:defRPr>
            </a:pPr>
            <a:r>
              <a:t>LIMIT 3;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Revenue ranking can differ from quantity ranking.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Use a descending bar chart.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2B152"/>
                </a:solidFill>
                <a:latin typeface="Aptos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987552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8F1E1"/>
                </a:solidFill>
                <a:latin typeface="Aptos"/>
              </a:defRPr>
            </a:pPr>
            <a:r>
              <a:t>ADVANCED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43200"/>
            <a:ext cx="914400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0">
                <a:solidFill>
                  <a:srgbClr val="BEC3C2"/>
                </a:solidFill>
                <a:latin typeface="Aptos"/>
              </a:defRPr>
            </a:pPr>
            <a:r>
              <a:t>Use revenue share, cumulative totals, and window-function rankings.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Q11 • Revenue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ADVANCED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What percentage of total revenue came from each pizza type?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WITH type_revenue AS (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SELECT pt.name AS pizza_type,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       SUM(od.quantity * p.price) AS revenue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FROM order_details od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JOIN pizzas p ON p.pizza_id = od.pizza_id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JOIN pizza_types pt ON pt.pizza_type_id = p.pizza_type_id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GROUP BY pt.name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SELECT pizza_type, ROUND(revenue, 2) AS revenue,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     ROUND(100.0 * revenue / SUM(revenue) OVER (), 2) AS revenue_pct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FROM type_revenue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ORDER BY revenue_pct DESC;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Window SUM gives the total across all pizza types.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Percentages should sum to about 100%, subject to rounding.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Q12 • Cumulative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ADVANCED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How did revenue accumulate over time?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24612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0449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WITH daily_revenue AS (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SELECT o.order_date,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       SUM(od.quantity * p.price) AS revenue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FROM orders o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JOIN order_details od ON od.order_id = o.order_id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JOIN pizzas p ON p.pizza_id = od.pizza_id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GROUP BY o.order_date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SELECT order_date, ROUND(revenue, 2) AS daily_revenue,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       ROUND(SUM(revenue) OVER (ORDER BY order_date), 2) AS cumulative_revenue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FROM daily_revenue</a:t>
            </a:r>
          </a:p>
          <a:p>
            <a:pPr>
              <a:spcAft>
                <a:spcPts val="0"/>
              </a:spcAft>
              <a:defRPr sz="1100">
                <a:solidFill>
                  <a:srgbClr val="F8F1E1"/>
                </a:solidFill>
                <a:latin typeface="Consolas"/>
              </a:defRPr>
            </a:pPr>
            <a:r>
              <a:t>ORDER BY order_date;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24612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269747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Aggregates revenue by date first.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The window sum creates a running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Q13 • Top 3 by category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ADVANCED ANALYSIS • SQL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566928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105613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2B152"/>
                </a:solidFill>
                <a:latin typeface="Aptos"/>
              </a:defRPr>
            </a:pPr>
            <a:r>
              <a:t>Which three pizza types lead each category by revenue?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6537960" cy="3611880"/>
          </a:xfrm>
          <a:prstGeom prst="roundRect">
            <a:avLst/>
          </a:prstGeom>
          <a:solidFill>
            <a:srgbClr val="1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6236208" cy="34107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WITH pizza_revenue AS (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SELECT pt.category, pt.name AS pizza_type,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       SUM(od.quantity * p.price) AS revenue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FROM order_details od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JOIN pizzas p ON p.pizza_id = od.pizza_id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JOIN pizza_types pt ON pt.pizza_type_id = p.pizza_type_id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GROUP BY pt.category, pt.name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),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ranked AS (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SELECT category, pizza_type, ROUND(revenue, 2) AS revenue,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       RANK() OVER (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         PARTITION BY category ORDER BY revenue DESC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       ) AS revenue_rank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  FROM pizza_revenue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SELECT category, pizza_type, revenue, revenue_rank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FROM ranked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WHERE revenue_rank &lt;= 3</a:t>
            </a:r>
          </a:p>
          <a:p>
            <a:pPr>
              <a:spcAft>
                <a:spcPts val="0"/>
              </a:spcAft>
              <a:defRPr sz="1000">
                <a:solidFill>
                  <a:srgbClr val="F8F1E1"/>
                </a:solidFill>
                <a:latin typeface="Consolas"/>
              </a:defRPr>
            </a:pPr>
            <a:r>
              <a:t>ORDER BY category, revenue_rank;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12848"/>
            <a:ext cx="4206240" cy="3611880"/>
          </a:xfrm>
          <a:prstGeom prst="roundRect">
            <a:avLst/>
          </a:prstGeom>
          <a:solidFill>
            <a:srgbClr val="27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395728"/>
            <a:ext cx="3749039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D24137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761488"/>
            <a:ext cx="3703320" cy="3063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PARTITION BY restarts ranking for each category.</a:t>
            </a:r>
          </a:p>
          <a:p>
            <a:pPr>
              <a:spcAft>
                <a:spcPts val="1300"/>
              </a:spcAft>
              <a:defRPr sz="1300">
                <a:solidFill>
                  <a:srgbClr val="F8F1E1"/>
                </a:solidFill>
                <a:latin typeface="Aptos"/>
              </a:defRPr>
            </a:pPr>
            <a:r>
              <a:t>•  RANK preserves ties; a category may return more than 3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Results &amp;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Replace the placeholders with your actual MySQL output before publishing.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246120" cy="1325880"/>
          </a:xfrm>
          <a:prstGeom prst="roundRect">
            <a:avLst/>
          </a:prstGeom>
          <a:solidFill>
            <a:srgbClr val="272D30"/>
          </a:solidFill>
          <a:ln>
            <a:solidFill>
              <a:srgbClr val="D2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D24137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971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8F1E1"/>
                </a:solidFill>
                <a:latin typeface="Aptos"/>
              </a:defRPr>
            </a:pPr>
            <a:r>
              <a:t>[enter result]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874519"/>
            <a:ext cx="3246120" cy="1325880"/>
          </a:xfrm>
          <a:prstGeom prst="roundRect">
            <a:avLst/>
          </a:prstGeom>
          <a:solidFill>
            <a:srgbClr val="272D30"/>
          </a:solidFill>
          <a:ln>
            <a:solidFill>
              <a:srgbClr val="F2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F2B152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78608"/>
            <a:ext cx="2971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8F1E1"/>
                </a:solidFill>
                <a:latin typeface="Aptos"/>
              </a:defRPr>
            </a:pPr>
            <a:r>
              <a:t>[enter result]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874519"/>
            <a:ext cx="3246120" cy="1325880"/>
          </a:xfrm>
          <a:prstGeom prst="roundRect">
            <a:avLst/>
          </a:prstGeom>
          <a:solidFill>
            <a:srgbClr val="272D30"/>
          </a:solidFill>
          <a:ln>
            <a:solidFill>
              <a:srgbClr val="75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971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200" b="1">
                <a:solidFill>
                  <a:srgbClr val="759B73"/>
                </a:solidFill>
                <a:latin typeface="Aptos"/>
              </a:defRPr>
            </a:pPr>
            <a:r>
              <a:t>PIZZAS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78608"/>
            <a:ext cx="2971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000" b="1">
                <a:solidFill>
                  <a:srgbClr val="F8F1E1"/>
                </a:solidFill>
                <a:latin typeface="Aptos"/>
              </a:defRPr>
            </a:pPr>
            <a:r>
              <a:t>[enter result]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058400" cy="2011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Top product by quantity: [insert verified result].</a:t>
            </a:r>
          </a:p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Top product by revenue: [insert verified result].</a:t>
            </a:r>
          </a:p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Peak order hour: [insert verified result].</a:t>
            </a:r>
          </a:p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Highest revenue-contribution category: [insert verified result].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Use the query outputs to turn analysis into operational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Promotions: test bundles for high-volume products and monitor revenue impact.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Menu planning: review slow-moving products alongside margin and ingredient waste data.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Inventory: align stock levels with category demand and time-of-day patterns.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Staffing: use hourly order patterns to plan kitchen and delivery capacity.</a:t>
            </a:r>
          </a:p>
          <a:p>
            <a:pPr>
              <a:spcAft>
                <a:spcPts val="1300"/>
              </a:spcAft>
              <a:defRPr sz="1900">
                <a:solidFill>
                  <a:srgbClr val="F8F1E1"/>
                </a:solidFill>
                <a:latin typeface="Aptos"/>
              </a:defRPr>
            </a:pPr>
            <a:r>
              <a:t>•  Measurement: compare sales before and after a promotion rather than assuming it worked.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8F1E1"/>
                </a:solidFill>
                <a:latin typeface="Aptos"/>
              </a:defRPr>
            </a:pPr>
            <a:r>
              <a:t>Important SQL Validation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51560" cy="50292"/>
          </a:xfrm>
          <a:prstGeom prst="rect">
            <a:avLst/>
          </a:prstGeom>
          <a:solidFill>
            <a:srgbClr val="D2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42415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0">
                <a:solidFill>
                  <a:srgbClr val="BEC3C2"/>
                </a:solidFill>
                <a:latin typeface="Aptos"/>
              </a:defRPr>
            </a:pPr>
            <a:r>
              <a:t>The queries in this deck use the common pizza-sales schema. Verify your imported schema before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657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Typical join keys are order_details.pizza_id = pizzas.pizza_id and pizzas.pizza_type_id = pizza_types.pizza_type_id.</a:t>
            </a:r>
          </a:p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Your submitted code sometimes joins pizza_id to pizza_type_id and pizza_type_id to pizza_name; these may produce wrong totals or no matching rows.</a:t>
            </a:r>
          </a:p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Your hourly query should count distinct order IDs; your size analysis should sum quantity if the goal is units sold.</a:t>
            </a:r>
          </a:p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Revenue is calculated as quantity × price. Confirm that price is stored at the pizza-size level.</a:t>
            </a:r>
          </a:p>
          <a:p>
            <a:pPr>
              <a:spcAft>
                <a:spcPts val="1300"/>
              </a:spcAft>
              <a:defRPr sz="1600">
                <a:solidFill>
                  <a:srgbClr val="F8F1E1"/>
                </a:solidFill>
                <a:latin typeface="Aptos"/>
              </a:defRPr>
            </a:pPr>
            <a:r>
              <a:t>•  Run DESCRIBE orders; DESCRIBE order_details; DESCRIBE pizzas; DESCRIBE pizza_types; and adjust column names if needed.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2B15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645920"/>
            <a:ext cx="987552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000" b="1">
                <a:solidFill>
                  <a:srgbClr val="F8F1E1"/>
                </a:solidFill>
                <a:latin typeface="Aptos"/>
              </a:defRPr>
            </a:pPr>
            <a:r>
              <a:t>FROM SQL QUERIES TO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697480"/>
            <a:ext cx="96926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0">
                <a:solidFill>
                  <a:srgbClr val="BEC3C2"/>
                </a:solidFill>
                <a:latin typeface="Aptos"/>
              </a:defRPr>
            </a:pPr>
            <a:r>
              <a:t>This project demonstrates how relational joins, aggregations, date functions, and window functions can reveal product performance and sales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F2B152"/>
                </a:solidFill>
                <a:latin typeface="Aptos"/>
              </a:defRPr>
            </a:pPr>
            <a:r>
              <a:t>GitHub repository: [paste your repository URL]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8F1E1"/>
                </a:solidFill>
                <a:latin typeface="Aptos"/>
              </a:defRPr>
            </a:pPr>
            <a:r>
              <a:t>Next step: add verified query screenshots and the final results to the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BEC3C2"/>
                </a:solidFill>
                <a:latin typeface="Aptos"/>
              </a:defRPr>
            </a:pPr>
            <a:r>
              <a:t>PIZZA SALES DATA ANALYSIS  •  MYSQL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F2B152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